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1764f210e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1764f210e_1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f1764f210e_1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1764f210e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f1764f210e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1764f210e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21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7C3AED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6400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731520" y="1371600"/>
            <a:ext cx="6400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Agentic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Observability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30175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Build an AI Agent That Tells You What Broke,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Who Owns It, and How to Fix 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397764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Hands-on Workshop Session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31520" y="48691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Powered by LangSmith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Meet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</a:t>
            </a: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Speakers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85800" y="416052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4" title="2_Khushi-Yada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975" y="1042400"/>
            <a:ext cx="5391575" cy="32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Agentic Observability?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 AI-powered observability layer that autonomously detects, diagnoses, and assigns ownership of failures across your agent pipeline.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57200" y="1554480"/>
            <a:ext cx="2606040" cy="292608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1325880" y="1783080"/>
            <a:ext cx="822960" cy="8229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60" y="1965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640080" y="27889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Detect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40080" y="320040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agent monitors traces, logs, and metrics in real-time — identifies anomalies before users report them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337560" y="1554480"/>
            <a:ext cx="2606040" cy="292608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206240" y="178308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0" y="1965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3520440" y="27889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Diagnose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520440" y="320040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Automatically traces failure root cause across LLM calls, tool executions, and retrieval pipelines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217920" y="1554480"/>
            <a:ext cx="2606040" cy="292608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7086600" y="178308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0" y="1965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6400800" y="278892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Resolve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400800" y="320040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Maps failures to owning teams, suggests fixes, and generates actionable incident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50" y="0"/>
            <a:ext cx="9144000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Agentic Observability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365760" y="1371600"/>
            <a:ext cx="1371600" cy="146304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365760" y="1371600"/>
            <a:ext cx="1371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7099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457200" y="233172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0512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/>
          <p:nvPr/>
        </p:nvSpPr>
        <p:spPr>
          <a:xfrm>
            <a:off x="2148840" y="1371600"/>
            <a:ext cx="1371600" cy="146304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2148840" y="1371600"/>
            <a:ext cx="1371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2514600" y="160020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328" y="17099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2240280" y="233172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LangSmith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592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/>
          <p:nvPr/>
        </p:nvSpPr>
        <p:spPr>
          <a:xfrm>
            <a:off x="3931920" y="1371600"/>
            <a:ext cx="1371600" cy="146304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3931920" y="1371600"/>
            <a:ext cx="1371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4297680" y="160020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07408" y="17099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/>
          <p:nvPr/>
        </p:nvSpPr>
        <p:spPr>
          <a:xfrm>
            <a:off x="4023360" y="233172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6672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/>
          <p:nvPr/>
        </p:nvSpPr>
        <p:spPr>
          <a:xfrm>
            <a:off x="5715000" y="1371600"/>
            <a:ext cx="1371600" cy="146304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5715000" y="1371600"/>
            <a:ext cx="1371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6080760" y="160020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0488" y="17099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5806440" y="233172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9752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/>
          <p:nvPr/>
        </p:nvSpPr>
        <p:spPr>
          <a:xfrm>
            <a:off x="7498080" y="1371600"/>
            <a:ext cx="1371600" cy="146304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7498080" y="1371600"/>
            <a:ext cx="1371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7863840" y="160020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73568" y="17099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/>
          <p:nvPr/>
        </p:nvSpPr>
        <p:spPr>
          <a:xfrm>
            <a:off x="7589520" y="233172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Incident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How It Works End-to-End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731520" y="370332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1. Agent executes tasks — each LLM call, tool use, and retrieval is instrumented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2. LangSmith captures full execution traces with latency, token usage, and outputs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3. Observability agent analyzes traces in real-time for anomalies and failures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4. On failure — agent traces root cause, identifies responsible component/team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5. Generates incident report with fix suggestions and ownership assignment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4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Tracing Failures &amp; Root Cause Analysis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457200" y="1051560"/>
            <a:ext cx="1371600" cy="100584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457200" y="11887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1508760" y="10789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1828800" y="1325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2194560" y="1051560"/>
            <a:ext cx="1371600" cy="100584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2194560" y="105156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2194560" y="11887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3246120" y="10789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3566160" y="1325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3931920" y="1051560"/>
            <a:ext cx="1371600" cy="1005840"/>
          </a:xfrm>
          <a:prstGeom prst="rect">
            <a:avLst/>
          </a:prstGeom>
          <a:solidFill>
            <a:srgbClr val="0D2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3931920" y="105156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3931920" y="11887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(GPT-4)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983480" y="10789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5303520" y="1325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669280" y="1051560"/>
            <a:ext cx="1371600" cy="1005840"/>
          </a:xfrm>
          <a:prstGeom prst="rect">
            <a:avLst/>
          </a:prstGeom>
          <a:solidFill>
            <a:srgbClr val="2D12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5669280" y="1051560"/>
            <a:ext cx="13716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5669280" y="11887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 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720840" y="10789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7040880" y="1325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7406640" y="1051560"/>
            <a:ext cx="1371600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7406640" y="1051560"/>
            <a:ext cx="137160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7406640" y="11887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8458200" y="107899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457200" y="2377440"/>
            <a:ext cx="8229600" cy="246888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457200" y="2377440"/>
            <a:ext cx="54864" cy="2468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514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0"/>
          <p:cNvSpPr/>
          <p:nvPr/>
        </p:nvSpPr>
        <p:spPr>
          <a:xfrm>
            <a:off x="1234440" y="2514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Root Cause Identified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731520" y="2971800"/>
            <a:ext cx="3840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Failure 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DB Query Tool — Timeout after 30s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Error Chain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Agent → LLM → Tool:db_query → ConnectionPool → TimeoutError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User query failed — no response generated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846320" y="2971800"/>
            <a:ext cx="3566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Backend / Database 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Suggested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Increase connection pool size, add retry logic with exponential backoff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92% — based on 47 similar past incidents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1" title="hkPi4CYSyYpAimiOOatWcX-img-2_1781882299000_na1fn_bGFuZ3NtaXRoX3RyYWNlX3RyYW5zcGFyZW5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LangSmith: The Observability Backbone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25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/>
          <p:nvPr/>
        </p:nvSpPr>
        <p:spPr>
          <a:xfrm>
            <a:off x="1371600" y="1188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 Visualization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1371600" y="155448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execution tree — see every LLM call, tool use, and retrieval step with latency breakdown and input/output inspection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4754880" y="1005840"/>
            <a:ext cx="4023360" cy="173736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4937760" y="12344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325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2"/>
          <p:cNvSpPr/>
          <p:nvPr/>
        </p:nvSpPr>
        <p:spPr>
          <a:xfrm>
            <a:off x="5669280" y="11887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Monitoring &amp; Dashboards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5669280" y="155448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Track run metrics over time — latency percentiles, token costs, error rates, and success rates across agent versions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57200" y="2971800"/>
            <a:ext cx="4023360" cy="173736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291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2"/>
          <p:cNvSpPr/>
          <p:nvPr/>
        </p:nvSpPr>
        <p:spPr>
          <a:xfrm>
            <a:off x="1371600" y="31546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&amp;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1371600" y="352044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 automated evals on agent traces — compare outputs, measure quality, and catch regressions before deployment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4754880" y="2971800"/>
            <a:ext cx="4023360" cy="173736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4937760" y="32004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3291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2"/>
          <p:cNvSpPr/>
          <p:nvPr/>
        </p:nvSpPr>
        <p:spPr>
          <a:xfrm>
            <a:off x="5669280" y="31546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669280" y="3520440"/>
            <a:ext cx="2926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Version, compare, and optimize prompts directly in LangSmith — playground for rapid iteration with live tracing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the AI Observability Agent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Core components that power the agentic observability 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57200" y="1371600"/>
            <a:ext cx="2606040" cy="3291840"/>
          </a:xfrm>
          <a:prstGeom prst="rect">
            <a:avLst/>
          </a:prstGeom>
          <a:solidFill>
            <a:srgbClr val="141E33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5544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3"/>
          <p:cNvSpPr/>
          <p:nvPr/>
        </p:nvSpPr>
        <p:spPr>
          <a:xfrm>
            <a:off x="594360" y="21945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Trace Ingestion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822960" y="2834640"/>
            <a:ext cx="1874520" cy="1828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685800" y="297180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LangSmith webhook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Real-time trace streaming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Multi-agent trace correlation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3474720" y="21945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3566160" y="297180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6355080" y="219456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6446520" y="297180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Hands-On: Session Walkthrough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685800" y="10515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1371600" y="10515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 &amp; Instrument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3474720" y="10515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Configure LangSmith, instrument a multi-tool agent with @traceable decorators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457200" y="1828800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685800" y="182880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1371600" y="18288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&amp; Trace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3474720" y="182880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Execute agent tasks, observe real-time trace capture in LangSmith dashboard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457200" y="260604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685800" y="260604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1371600" y="260604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Inject Failures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3474720" y="260604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Simulate tool timeouts, LLM hallucinations, and retrieval errors to test observability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457200" y="3383280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685800" y="338328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10B981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1371600" y="3383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Diagnoses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3474720" y="33832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observability agent detects anomalies, traces root cause, and assigns ownership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457200" y="4160520"/>
            <a:ext cx="54864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685800" y="416052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EC4899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1371600" y="41605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&amp; Iterate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3474720" y="41605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Analyze incident reports, refine detection rules, and improve agent reliability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640080" y="1161288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5272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5"/>
          <p:cNvSpPr/>
          <p:nvPr/>
        </p:nvSpPr>
        <p:spPr>
          <a:xfrm>
            <a:off x="1417320" y="109728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 is Evolving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1417320" y="141732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agents need agent-native observability — traditional APM tools weren't built for non-deterministic systems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640080" y="212140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21284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5"/>
          <p:cNvSpPr/>
          <p:nvPr/>
        </p:nvSpPr>
        <p:spPr>
          <a:xfrm>
            <a:off x="1417320" y="205740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 Can Observe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1417320" y="237744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an AI agent to monitor, diagnose, and resolve failures in your other AI agents — observability goes agentic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640080" y="308152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1729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5"/>
          <p:cNvSpPr/>
          <p:nvPr/>
        </p:nvSpPr>
        <p:spPr>
          <a:xfrm>
            <a:off x="1417320" y="301752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LangSmith is the Foundation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1417320" y="333756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End-to-end tracing, evaluation, and monitoring — the backbone for building observable agent systems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640080" y="4041648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41330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5"/>
          <p:cNvSpPr/>
          <p:nvPr/>
        </p:nvSpPr>
        <p:spPr>
          <a:xfrm>
            <a:off x="1417320" y="397764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Ownership is Automatable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1417320" y="429768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 failures to teams automatically using trace analysis — reduce MTTR from hours to minutes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8800" y="0"/>
            <a:ext cx="91440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